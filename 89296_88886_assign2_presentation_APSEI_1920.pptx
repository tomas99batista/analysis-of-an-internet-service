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7"/>
  </p:notesMasterIdLst>
  <p:handoutMasterIdLst>
    <p:handoutMasterId r:id="rId8"/>
  </p:handoutMasterIdLst>
  <p:sldIdLst>
    <p:sldId id="256" r:id="rId2"/>
    <p:sldId id="506" r:id="rId3"/>
    <p:sldId id="507" r:id="rId4"/>
    <p:sldId id="508" r:id="rId5"/>
    <p:sldId id="509" r:id="rId6"/>
  </p:sldIdLst>
  <p:sldSz cx="9144000" cy="6858000" type="screen4x3"/>
  <p:notesSz cx="6742113" cy="9906000"/>
  <p:defaultTextStyle>
    <a:defPPr>
      <a:defRPr lang="pt-P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00"/>
    <a:srgbClr val="EAEAEA"/>
    <a:srgbClr val="99FFCC"/>
    <a:srgbClr val="CCFFCC"/>
    <a:srgbClr val="FFFF66"/>
    <a:srgbClr val="FF33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599" autoAdjust="0"/>
  </p:normalViewPr>
  <p:slideViewPr>
    <p:cSldViewPr>
      <p:cViewPr varScale="1">
        <p:scale>
          <a:sx n="108" d="100"/>
          <a:sy n="108" d="100"/>
        </p:scale>
        <p:origin x="1704" y="84"/>
      </p:cViewPr>
      <p:guideLst>
        <p:guide orient="horz" pos="2160"/>
        <p:guide pos="2880"/>
      </p:guideLst>
    </p:cSldViewPr>
  </p:slideViewPr>
  <p:outlineViewPr>
    <p:cViewPr>
      <p:scale>
        <a:sx n="25" d="100"/>
        <a:sy n="25" d="100"/>
      </p:scale>
      <p:origin x="0" y="-7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-900" y="-60"/>
      </p:cViewPr>
      <p:guideLst>
        <p:guide orient="horz" pos="3120"/>
        <p:guide pos="21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1000" cy="4953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1113" y="0"/>
            <a:ext cx="2921000" cy="4953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0700"/>
            <a:ext cx="2921000" cy="4953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1113" y="9410700"/>
            <a:ext cx="2921000" cy="4953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34BBC-AE3F-449A-8FD0-7E5A78C4157B}" type="slidenum">
              <a:rPr lang="pt-PT" altLang="pt-PT"/>
              <a:pPr/>
              <a:t>‹nº›</a:t>
            </a:fld>
            <a:endParaRPr lang="pt-PT" alt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10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1113" y="0"/>
            <a:ext cx="29210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5350" y="742950"/>
            <a:ext cx="4953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705350"/>
            <a:ext cx="4945063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Faça clique para editar o estilo do título do modelo global</a:t>
            </a:r>
          </a:p>
          <a:p>
            <a:pPr lvl="1"/>
            <a:r>
              <a:rPr lang="pt-PT" noProof="0"/>
              <a:t>Segundo nível</a:t>
            </a:r>
          </a:p>
          <a:p>
            <a:pPr lvl="2"/>
            <a:r>
              <a:rPr lang="pt-PT" noProof="0"/>
              <a:t>Terceiro nível</a:t>
            </a:r>
          </a:p>
          <a:p>
            <a:pPr lvl="3"/>
            <a:r>
              <a:rPr lang="pt-PT" noProof="0"/>
              <a:t>Quarto nível</a:t>
            </a:r>
          </a:p>
          <a:p>
            <a:pPr lvl="4"/>
            <a:r>
              <a:rPr lang="pt-PT" noProof="0"/>
              <a:t>Quinto nível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0700"/>
            <a:ext cx="29210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1113" y="9410700"/>
            <a:ext cx="29210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209D946-B460-418D-AA78-85544F52A271}" type="slidenum">
              <a:rPr lang="pt-PT" altLang="pt-PT"/>
              <a:pPr/>
              <a:t>‹nº›</a:t>
            </a:fld>
            <a:endParaRPr lang="pt-PT" alt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1D95CF1-1793-4F7B-B6A1-EF781859DC63}" type="slidenum">
              <a:rPr lang="pt-PT" altLang="pt-PT" sz="1200"/>
              <a:pPr/>
              <a:t>1</a:t>
            </a:fld>
            <a:endParaRPr lang="pt-PT" altLang="pt-PT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Marcador de Posição da Imagem do Diapositivo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Marcador de Posição de Nota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altLang="pt-PT"/>
              <a:t>Os objectivos desta dissertação foram os seguintes:</a:t>
            </a:r>
          </a:p>
          <a:p>
            <a:pPr algn="just">
              <a:lnSpc>
                <a:spcPct val="150000"/>
              </a:lnSpc>
            </a:pPr>
            <a:r>
              <a:rPr lang="pt-PT" altLang="pt-PT"/>
              <a:t>-Estudar a organização e estrutura das actuais redes de telecomunicações, suas tecnologias, arquitecturas e soluções de rede</a:t>
            </a:r>
          </a:p>
          <a:p>
            <a:pPr algn="just">
              <a:lnSpc>
                <a:spcPct val="150000"/>
              </a:lnSpc>
            </a:pPr>
            <a:r>
              <a:rPr lang="pt-PT" altLang="pt-PT"/>
              <a:t>-Estudar as diferentes redes de acesso, analisando os diferentes meios físicos de transmissão utilizados</a:t>
            </a:r>
          </a:p>
          <a:p>
            <a:pPr algn="just">
              <a:lnSpc>
                <a:spcPct val="150000"/>
              </a:lnSpc>
            </a:pPr>
            <a:r>
              <a:rPr lang="pt-PT" altLang="pt-PT"/>
              <a:t>-Identificar soluções para a rede de acesso, utilizando fibra óptica como meio de transmissão - soluções FTTx</a:t>
            </a:r>
          </a:p>
          <a:p>
            <a:pPr algn="just">
              <a:lnSpc>
                <a:spcPct val="150000"/>
              </a:lnSpc>
            </a:pPr>
            <a:r>
              <a:rPr lang="pt-PT" altLang="pt-PT"/>
              <a:t>-Realizar uma análise técno-económica de diferentes tipologias para uma solução FTTH utilizando a tecnologia GPON</a:t>
            </a:r>
          </a:p>
          <a:p>
            <a:endParaRPr lang="pt-PT" altLang="pt-PT"/>
          </a:p>
        </p:txBody>
      </p:sp>
      <p:sp>
        <p:nvSpPr>
          <p:cNvPr id="22532" name="Marcador de Posição do Número do Diapositivo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1543FF3-DFC7-4D18-8EDE-6370EED82ECC}" type="slidenum">
              <a:rPr lang="pt-PT" altLang="pt-PT" sz="1200"/>
              <a:pPr/>
              <a:t>3</a:t>
            </a:fld>
            <a:endParaRPr lang="pt-PT" altLang="pt-PT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Marcador de Posição da Imagem do Diapositivo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Marcador de Posição de Nota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altLang="pt-PT"/>
              <a:t>Os objectivos desta dissertação foram os seguintes:</a:t>
            </a:r>
          </a:p>
          <a:p>
            <a:pPr algn="just">
              <a:lnSpc>
                <a:spcPct val="150000"/>
              </a:lnSpc>
            </a:pPr>
            <a:r>
              <a:rPr lang="pt-PT" altLang="pt-PT"/>
              <a:t>-Estudar a organização e estrutura das actuais redes de telecomunicações, suas tecnologias, arquitecturas e soluções de rede</a:t>
            </a:r>
          </a:p>
          <a:p>
            <a:pPr algn="just">
              <a:lnSpc>
                <a:spcPct val="150000"/>
              </a:lnSpc>
            </a:pPr>
            <a:r>
              <a:rPr lang="pt-PT" altLang="pt-PT"/>
              <a:t>-Estudar as diferentes redes de acesso, analisando os diferentes meios físicos de transmissão utilizados</a:t>
            </a:r>
          </a:p>
          <a:p>
            <a:pPr algn="just">
              <a:lnSpc>
                <a:spcPct val="150000"/>
              </a:lnSpc>
            </a:pPr>
            <a:r>
              <a:rPr lang="pt-PT" altLang="pt-PT"/>
              <a:t>-Identificar soluções para a rede de acesso, utilizando fibra óptica como meio de transmissão - soluções FTTx</a:t>
            </a:r>
          </a:p>
          <a:p>
            <a:pPr algn="just">
              <a:lnSpc>
                <a:spcPct val="150000"/>
              </a:lnSpc>
            </a:pPr>
            <a:r>
              <a:rPr lang="pt-PT" altLang="pt-PT"/>
              <a:t>-Realizar uma análise técno-económica de diferentes tipologias para uma solução FTTH utilizando a tecnologia GPON</a:t>
            </a:r>
          </a:p>
          <a:p>
            <a:endParaRPr lang="pt-PT" altLang="pt-PT"/>
          </a:p>
        </p:txBody>
      </p:sp>
      <p:sp>
        <p:nvSpPr>
          <p:cNvPr id="23556" name="Marcador de Posição do Número do Diapositivo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6C8B324-5C9E-4E16-BB2F-4E55B2B3F2AE}" type="slidenum">
              <a:rPr lang="pt-PT" altLang="pt-PT" sz="1200"/>
              <a:pPr/>
              <a:t>4</a:t>
            </a:fld>
            <a:endParaRPr lang="pt-PT" altLang="pt-PT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Marcador de Posição da Imagem do Diapositivo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Marcador de Posição de Nota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altLang="pt-PT"/>
              <a:t>Os objectivos desta dissertação foram os seguintes:</a:t>
            </a:r>
          </a:p>
          <a:p>
            <a:pPr algn="just">
              <a:lnSpc>
                <a:spcPct val="150000"/>
              </a:lnSpc>
            </a:pPr>
            <a:r>
              <a:rPr lang="pt-PT" altLang="pt-PT"/>
              <a:t>-Estudar a organização e estrutura das actuais redes de telecomunicações, suas tecnologias, arquitecturas e soluções de rede</a:t>
            </a:r>
          </a:p>
          <a:p>
            <a:pPr algn="just">
              <a:lnSpc>
                <a:spcPct val="150000"/>
              </a:lnSpc>
            </a:pPr>
            <a:r>
              <a:rPr lang="pt-PT" altLang="pt-PT"/>
              <a:t>-Estudar as diferentes redes de acesso, analisando os diferentes meios físicos de transmissão utilizados</a:t>
            </a:r>
          </a:p>
          <a:p>
            <a:pPr algn="just">
              <a:lnSpc>
                <a:spcPct val="150000"/>
              </a:lnSpc>
            </a:pPr>
            <a:r>
              <a:rPr lang="pt-PT" altLang="pt-PT"/>
              <a:t>-Identificar soluções para a rede de acesso, utilizando fibra óptica como meio de transmissão - soluções FTTx</a:t>
            </a:r>
          </a:p>
          <a:p>
            <a:pPr algn="just">
              <a:lnSpc>
                <a:spcPct val="150000"/>
              </a:lnSpc>
            </a:pPr>
            <a:r>
              <a:rPr lang="pt-PT" altLang="pt-PT"/>
              <a:t>-Realizar uma análise técno-económica de diferentes tipologias para uma solução FTTH utilizando a tecnologia GPON</a:t>
            </a:r>
          </a:p>
          <a:p>
            <a:endParaRPr lang="pt-PT" altLang="pt-PT"/>
          </a:p>
        </p:txBody>
      </p:sp>
      <p:sp>
        <p:nvSpPr>
          <p:cNvPr id="24580" name="Marcador de Posição do Número do Diapositivo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79633CA-C4E9-4734-B8A4-9206D91396BA}" type="slidenum">
              <a:rPr lang="pt-PT" altLang="pt-PT" sz="1200"/>
              <a:pPr/>
              <a:t>5</a:t>
            </a:fld>
            <a:endParaRPr lang="pt-PT" altLang="pt-PT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2000" y="0"/>
            <a:ext cx="762000" cy="2603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9A3ADBC-2A5C-4542-967B-AA6DA98A9CE9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88801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pt-P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2000" y="6581775"/>
            <a:ext cx="762000" cy="2603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4AFE5B0A-2F42-45DA-AE52-D971391B38FA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718035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pt-P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2000" y="6581775"/>
            <a:ext cx="762000" cy="2603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C40D6678-8A75-41BC-A8E1-EED5F522C8F9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535767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295400"/>
            <a:ext cx="40005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57700" y="1295400"/>
            <a:ext cx="40005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2000" y="6581775"/>
            <a:ext cx="762000" cy="2603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B82BC614-03D9-4B08-A06D-98BE8F2C6FAE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733008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2000" y="6581775"/>
            <a:ext cx="762000" cy="2603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DB080CF1-ACF3-4026-B6A2-0F43F54EBF50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737896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2000" y="6581775"/>
            <a:ext cx="762000" cy="2603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BB2E880A-DC08-4835-889D-1C8A03E6423F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396767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2000" y="6581775"/>
            <a:ext cx="762000" cy="2603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D29E5C8A-FFEC-4A7C-B095-23D96A9C6E9C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920927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2000" y="6581775"/>
            <a:ext cx="762000" cy="2603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01CD7464-9A42-43DB-929B-E81F9E981951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671553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PT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2000" y="6581775"/>
            <a:ext cx="762000" cy="2603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624C19A0-9CC2-48B0-BF03-DBA2C0FBD4FE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515008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2000" y="6581775"/>
            <a:ext cx="762000" cy="2603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C427C7CA-C124-44E7-A7C3-9B4FEDAF61B5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973149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274638"/>
            <a:ext cx="2095500" cy="5973762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74638"/>
            <a:ext cx="61341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2000" y="6581775"/>
            <a:ext cx="762000" cy="2603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167160B9-3115-4D12-A4E2-10D3FAD13298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3357176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304800" y="1295400"/>
            <a:ext cx="8153400" cy="4953000"/>
          </a:xfrm>
        </p:spPr>
        <p:txBody>
          <a:bodyPr/>
          <a:lstStyle/>
          <a:p>
            <a:pPr lvl="0"/>
            <a:endParaRPr lang="pt-PT" noProof="0"/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2000" y="6581775"/>
            <a:ext cx="762000" cy="2603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8FA8EF5F-E97B-47EB-81AD-298D1B6F3BBB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352858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0005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57700" y="1295400"/>
            <a:ext cx="40005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2000" y="6581775"/>
            <a:ext cx="762000" cy="2603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766CF4D7-A514-4215-B7E8-0010E0EB653E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1578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mailto:autor@xx.pt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"/>
          <p:cNvSpPr>
            <a:spLocks noChangeArrowheads="1"/>
          </p:cNvSpPr>
          <p:nvPr/>
        </p:nvSpPr>
        <p:spPr bwMode="auto">
          <a:xfrm>
            <a:off x="8316913" y="0"/>
            <a:ext cx="792162" cy="228600"/>
          </a:xfrm>
          <a:prstGeom prst="rect">
            <a:avLst/>
          </a:prstGeom>
          <a:solidFill>
            <a:srgbClr val="008000"/>
          </a:solidFill>
          <a:ln w="1905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GB" altLang="pt-PT">
              <a:solidFill>
                <a:schemeClr val="bg1"/>
              </a:solidFill>
            </a:endParaRPr>
          </a:p>
        </p:txBody>
      </p:sp>
      <p:sp>
        <p:nvSpPr>
          <p:cNvPr id="1027" name="Rectangle 11"/>
          <p:cNvSpPr>
            <a:spLocks noChangeArrowheads="1"/>
          </p:cNvSpPr>
          <p:nvPr/>
        </p:nvSpPr>
        <p:spPr bwMode="auto">
          <a:xfrm>
            <a:off x="0" y="0"/>
            <a:ext cx="6000750" cy="228600"/>
          </a:xfrm>
          <a:prstGeom prst="rect">
            <a:avLst/>
          </a:prstGeom>
          <a:solidFill>
            <a:srgbClr val="008000"/>
          </a:solidFill>
          <a:ln w="1905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GB" altLang="pt-PT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5750" y="1285875"/>
            <a:ext cx="8153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pt-PT" dirty="0" err="1"/>
              <a:t>Click</a:t>
            </a:r>
            <a:r>
              <a:rPr lang="pt-PT" altLang="pt-PT" dirty="0"/>
              <a:t> to </a:t>
            </a:r>
            <a:r>
              <a:rPr lang="pt-PT" altLang="pt-PT" dirty="0" err="1"/>
              <a:t>edit</a:t>
            </a:r>
            <a:r>
              <a:rPr lang="pt-PT" altLang="pt-PT" dirty="0"/>
              <a:t> Master </a:t>
            </a:r>
            <a:r>
              <a:rPr lang="pt-PT" altLang="pt-PT" dirty="0" err="1"/>
              <a:t>text</a:t>
            </a:r>
            <a:r>
              <a:rPr lang="pt-PT" altLang="pt-PT" dirty="0"/>
              <a:t> </a:t>
            </a:r>
            <a:r>
              <a:rPr lang="pt-PT" altLang="pt-PT" dirty="0" err="1"/>
              <a:t>styles</a:t>
            </a:r>
            <a:endParaRPr lang="pt-PT" altLang="pt-PT" dirty="0"/>
          </a:p>
          <a:p>
            <a:pPr lvl="1"/>
            <a:r>
              <a:rPr lang="pt-PT" altLang="pt-PT" dirty="0" err="1"/>
              <a:t>Second</a:t>
            </a:r>
            <a:r>
              <a:rPr lang="pt-PT" altLang="pt-PT" dirty="0"/>
              <a:t> </a:t>
            </a:r>
            <a:r>
              <a:rPr lang="pt-PT" altLang="pt-PT" dirty="0" err="1"/>
              <a:t>level</a:t>
            </a:r>
            <a:endParaRPr lang="pt-PT" altLang="pt-PT" dirty="0"/>
          </a:p>
          <a:p>
            <a:pPr lvl="1"/>
            <a:r>
              <a:rPr lang="pt-PT" altLang="pt-PT" dirty="0" err="1"/>
              <a:t>sdaf</a:t>
            </a:r>
            <a:endParaRPr lang="pt-PT" altLang="pt-PT" dirty="0"/>
          </a:p>
          <a:p>
            <a:pPr lvl="1"/>
            <a:r>
              <a:rPr lang="pt-PT" altLang="pt-PT" dirty="0" err="1"/>
              <a:t>dsaf</a:t>
            </a:r>
            <a:endParaRPr lang="pt-PT" altLang="pt-PT" dirty="0"/>
          </a:p>
          <a:p>
            <a:pPr lvl="2"/>
            <a:r>
              <a:rPr lang="pt-PT" altLang="pt-PT" dirty="0" err="1"/>
              <a:t>Third</a:t>
            </a:r>
            <a:r>
              <a:rPr lang="pt-PT" altLang="pt-PT" dirty="0"/>
              <a:t> </a:t>
            </a:r>
            <a:r>
              <a:rPr lang="pt-PT" altLang="pt-PT" dirty="0" err="1"/>
              <a:t>level</a:t>
            </a:r>
            <a:endParaRPr lang="pt-PT" altLang="pt-PT" dirty="0"/>
          </a:p>
          <a:p>
            <a:pPr lvl="3"/>
            <a:r>
              <a:rPr lang="pt-PT" altLang="pt-PT" dirty="0" err="1"/>
              <a:t>Fourth</a:t>
            </a:r>
            <a:r>
              <a:rPr lang="pt-PT" altLang="pt-PT" dirty="0"/>
              <a:t> </a:t>
            </a:r>
            <a:r>
              <a:rPr lang="pt-PT" altLang="pt-PT" dirty="0" err="1"/>
              <a:t>level</a:t>
            </a:r>
            <a:endParaRPr lang="pt-PT" altLang="pt-PT" dirty="0"/>
          </a:p>
          <a:p>
            <a:pPr lvl="4"/>
            <a:r>
              <a:rPr lang="pt-PT" altLang="pt-PT" dirty="0" err="1"/>
              <a:t>Fifth</a:t>
            </a:r>
            <a:r>
              <a:rPr lang="pt-PT" altLang="pt-PT" dirty="0"/>
              <a:t> </a:t>
            </a:r>
            <a:r>
              <a:rPr lang="pt-PT" altLang="pt-PT" dirty="0" err="1"/>
              <a:t>level</a:t>
            </a:r>
            <a:endParaRPr lang="pt-PT" altLang="pt-PT" dirty="0"/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152400" y="0"/>
            <a:ext cx="89916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PT" altLang="pt-PT" sz="10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Title</a:t>
            </a:r>
            <a:r>
              <a:rPr lang="pt-PT" altLang="pt-PT" sz="1000" b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PT" altLang="pt-PT" sz="10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or</a:t>
            </a:r>
            <a:r>
              <a:rPr lang="pt-PT" altLang="pt-PT" sz="1000" b="1" dirty="0">
                <a:solidFill>
                  <a:schemeClr val="bg1"/>
                </a:solidFill>
                <a:latin typeface="Verdana" panose="020B0604030504040204" pitchFamily="34" charset="0"/>
              </a:rPr>
              <a:t>  </a:t>
            </a:r>
            <a:r>
              <a:rPr lang="pt-PT" altLang="pt-PT" sz="10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Theme</a:t>
            </a:r>
            <a:endParaRPr lang="pt-PT" altLang="pt-PT" sz="800" b="1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55563" y="6640513"/>
            <a:ext cx="9088437" cy="215900"/>
          </a:xfrm>
          <a:prstGeom prst="rect">
            <a:avLst/>
          </a:prstGeom>
          <a:solidFill>
            <a:srgbClr val="008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PT" altLang="pt-PT" sz="8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Author</a:t>
            </a:r>
            <a:r>
              <a:rPr lang="pt-PT" altLang="pt-PT" sz="800" b="1" dirty="0">
                <a:solidFill>
                  <a:schemeClr val="bg1"/>
                </a:solidFill>
                <a:latin typeface="Verdana" panose="020B0604030504040204" pitchFamily="34" charset="0"/>
              </a:rPr>
              <a:t>   …………………………………………………………………………………… </a:t>
            </a:r>
            <a:r>
              <a:rPr lang="pt-PT" altLang="pt-PT" sz="800" b="1" dirty="0">
                <a:solidFill>
                  <a:schemeClr val="bg1"/>
                </a:solidFill>
                <a:latin typeface="Verdana" panose="020B0604030504040204" pitchFamily="34" charset="0"/>
                <a:hlinkClick r:id="rId15"/>
              </a:rPr>
              <a:t>autor@xx.pt</a:t>
            </a:r>
            <a:r>
              <a:rPr lang="pt-PT" altLang="pt-PT" sz="800" b="1" dirty="0">
                <a:solidFill>
                  <a:schemeClr val="bg1"/>
                </a:solidFill>
                <a:latin typeface="Verdana" panose="020B0604030504040204" pitchFamily="34" charset="0"/>
              </a:rPr>
              <a:t>, </a:t>
            </a:r>
            <a:r>
              <a:rPr lang="pt-PT" altLang="pt-PT" sz="8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Supervision</a:t>
            </a:r>
            <a:r>
              <a:rPr lang="pt-PT" altLang="pt-PT" sz="800" b="1" dirty="0">
                <a:solidFill>
                  <a:schemeClr val="bg1"/>
                </a:solidFill>
                <a:latin typeface="Verdana" panose="020B0604030504040204" pitchFamily="34" charset="0"/>
              </a:rPr>
              <a:t>: Prof. Dr. Manuel de Oliveira Duarte   </a:t>
            </a:r>
          </a:p>
        </p:txBody>
      </p:sp>
      <p:pic>
        <p:nvPicPr>
          <p:cNvPr id="1032" name="Picture 10" descr="logo UA(TeoriaPoiesisPraxis)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350" y="25400"/>
            <a:ext cx="2112963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build="p" bldLvl="2" autoUpdateAnimBg="0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30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30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30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30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30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defTabSz="609600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609600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defTabSz="609600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defTabSz="609600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defTabSz="609600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defTabSz="609600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defTabSz="609600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defTabSz="609600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defTabSz="609600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0000"/>
        <a:buFont typeface="Monotype Sorts" pitchFamily="2" charset="2"/>
        <a:buChar char="w"/>
        <a:defRPr sz="2400">
          <a:solidFill>
            <a:srgbClr val="00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+mn-lt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5pPr>
      <a:lvl6pPr marL="2438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rgbClr val="0033CC"/>
          </a:solidFill>
          <a:latin typeface="+mn-lt"/>
        </a:defRPr>
      </a:lvl6pPr>
      <a:lvl7pPr marL="28956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rgbClr val="0033CC"/>
          </a:solidFill>
          <a:latin typeface="+mn-lt"/>
        </a:defRPr>
      </a:lvl7pPr>
      <a:lvl8pPr marL="33528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rgbClr val="0033CC"/>
          </a:solidFill>
          <a:latin typeface="+mn-lt"/>
        </a:defRPr>
      </a:lvl8pPr>
      <a:lvl9pPr marL="38100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rgbClr val="0033CC"/>
          </a:solidFill>
          <a:latin typeface="+mn-lt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/>
            <a:fld id="{A05FB30D-C467-44AE-B92A-2EE42DF5A543}" type="slidenum">
              <a:rPr lang="pt-PT" altLang="pt-PT" sz="1200"/>
              <a:pPr lvl="1"/>
              <a:t>1</a:t>
            </a:fld>
            <a:endParaRPr lang="pt-PT" altLang="pt-PT" sz="1200" dirty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323850" y="1295400"/>
            <a:ext cx="8424863" cy="4848225"/>
          </a:xfrm>
          <a:prstGeom prst="rect">
            <a:avLst/>
          </a:prstGeo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4400"/>
            <a:r>
              <a:rPr lang="pt-PT" altLang="pt-PT" sz="2800" b="1" dirty="0" err="1">
                <a:solidFill>
                  <a:srgbClr val="000000"/>
                </a:solidFill>
              </a:rPr>
              <a:t>Analysis</a:t>
            </a:r>
            <a:r>
              <a:rPr lang="pt-PT" altLang="pt-PT" sz="2800" b="1" dirty="0">
                <a:solidFill>
                  <a:srgbClr val="000000"/>
                </a:solidFill>
              </a:rPr>
              <a:t> </a:t>
            </a:r>
            <a:r>
              <a:rPr lang="pt-PT" altLang="pt-PT" sz="2800" b="1" dirty="0" err="1">
                <a:solidFill>
                  <a:srgbClr val="000000"/>
                </a:solidFill>
              </a:rPr>
              <a:t>of</a:t>
            </a:r>
            <a:r>
              <a:rPr lang="pt-PT" altLang="pt-PT" sz="2800" b="1" dirty="0">
                <a:solidFill>
                  <a:srgbClr val="000000"/>
                </a:solidFill>
              </a:rPr>
              <a:t> na Internet </a:t>
            </a:r>
            <a:r>
              <a:rPr lang="pt-PT" altLang="pt-PT" sz="2800" b="1" dirty="0" err="1">
                <a:solidFill>
                  <a:srgbClr val="000000"/>
                </a:solidFill>
              </a:rPr>
              <a:t>Service</a:t>
            </a:r>
            <a:r>
              <a:rPr lang="pt-PT" altLang="pt-PT" sz="2800" b="1" dirty="0">
                <a:solidFill>
                  <a:srgbClr val="000000"/>
                </a:solidFill>
              </a:rPr>
              <a:t>: </a:t>
            </a:r>
            <a:br>
              <a:rPr lang="pt-PT" altLang="pt-PT" sz="2800" b="1" dirty="0">
                <a:solidFill>
                  <a:srgbClr val="000000"/>
                </a:solidFill>
              </a:rPr>
            </a:br>
            <a:r>
              <a:rPr lang="pt-PT" altLang="pt-PT" sz="2800" b="1" dirty="0" err="1">
                <a:solidFill>
                  <a:srgbClr val="000000"/>
                </a:solidFill>
              </a:rPr>
              <a:t>Slack</a:t>
            </a:r>
            <a:r>
              <a:rPr lang="pt-PT" altLang="pt-PT" sz="2800" b="1" dirty="0">
                <a:solidFill>
                  <a:srgbClr val="000000"/>
                </a:solidFill>
              </a:rPr>
              <a:t> </a:t>
            </a:r>
            <a:br>
              <a:rPr lang="pt-PT" altLang="pt-PT" sz="4000" b="1" dirty="0">
                <a:solidFill>
                  <a:srgbClr val="000000"/>
                </a:solidFill>
              </a:rPr>
            </a:br>
            <a:b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b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b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b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89296: Tomás Batista</a:t>
            </a:r>
            <a:b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88887: Flávia Figueiredo</a:t>
            </a:r>
            <a:b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b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b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b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b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b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b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b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Work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done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under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the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framework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of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 discipline APSEI </a:t>
            </a: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of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the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course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 LEI</a:t>
            </a:r>
            <a:b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Department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of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Electronics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, </a:t>
            </a: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Telecommunications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and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Informatics</a:t>
            </a:r>
            <a:b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University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of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 Aveiro</a:t>
            </a:r>
            <a:b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b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b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pt-PT" altLang="pt-PT" sz="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Supervision</a:t>
            </a: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  <a:b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Manuel de Oliveira Duarte</a:t>
            </a:r>
            <a:b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b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b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Date</a:t>
            </a:r>
            <a:b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pt-PT" altLang="pt-PT" sz="800" b="1" dirty="0">
                <a:solidFill>
                  <a:srgbClr val="000000"/>
                </a:solidFill>
                <a:latin typeface="Verdana" panose="020B0604030504040204" pitchFamily="34" charset="0"/>
              </a:rPr>
              <a:t>21/04/2020</a:t>
            </a:r>
            <a:b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br>
              <a:rPr lang="pt-PT" altLang="pt-PT" sz="1200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endParaRPr lang="pt-PT" altLang="pt-PT" sz="1200" b="1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/>
          <p:cNvSpPr>
            <a:spLocks noGrp="1"/>
          </p:cNvSpPr>
          <p:nvPr>
            <p:ph type="title"/>
          </p:nvPr>
        </p:nvSpPr>
        <p:spPr bwMode="auto">
          <a:xfrm>
            <a:off x="676275" y="631825"/>
            <a:ext cx="7467600" cy="868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PT" altLang="pt-PT" b="1" dirty="0"/>
              <a:t>Estrutura da Apresentação</a:t>
            </a:r>
          </a:p>
        </p:txBody>
      </p:sp>
      <p:sp>
        <p:nvSpPr>
          <p:cNvPr id="16387" name="Marcador de Posição de Conteúdo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86675" cy="48736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altLang="pt-PT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Objectivos</a:t>
            </a:r>
          </a:p>
          <a:p>
            <a:pPr algn="just">
              <a:lnSpc>
                <a:spcPct val="150000"/>
              </a:lnSpc>
            </a:pPr>
            <a:r>
              <a:rPr lang="pt-PT" altLang="pt-PT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Organização das actuais redes de telecomunicações</a:t>
            </a:r>
          </a:p>
          <a:p>
            <a:pPr algn="just">
              <a:lnSpc>
                <a:spcPct val="150000"/>
              </a:lnSpc>
            </a:pPr>
            <a:r>
              <a:rPr lang="pt-PT" altLang="pt-PT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 de Acesso</a:t>
            </a:r>
          </a:p>
          <a:p>
            <a:pPr algn="just">
              <a:lnSpc>
                <a:spcPct val="150000"/>
              </a:lnSpc>
            </a:pPr>
            <a:r>
              <a:rPr lang="pt-PT" altLang="pt-PT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Soluções FTTx</a:t>
            </a:r>
          </a:p>
          <a:p>
            <a:pPr algn="just">
              <a:lnSpc>
                <a:spcPct val="150000"/>
              </a:lnSpc>
            </a:pPr>
            <a:r>
              <a:rPr lang="pt-PT" altLang="pt-PT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Tecnologias e soluções de rede</a:t>
            </a:r>
          </a:p>
          <a:p>
            <a:pPr algn="just">
              <a:lnSpc>
                <a:spcPct val="150000"/>
              </a:lnSpc>
            </a:pPr>
            <a:r>
              <a:rPr lang="pt-PT" altLang="pt-PT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Tecno-Económica</a:t>
            </a:r>
          </a:p>
          <a:p>
            <a:pPr algn="just">
              <a:lnSpc>
                <a:spcPct val="150000"/>
              </a:lnSpc>
            </a:pPr>
            <a:r>
              <a:rPr lang="pt-PT" altLang="pt-PT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Apresentação de resultados</a:t>
            </a:r>
          </a:p>
        </p:txBody>
      </p:sp>
      <p:sp>
        <p:nvSpPr>
          <p:cNvPr id="16388" name="Marcador de Posição do Número do Diapositivo 3"/>
          <p:cNvSpPr>
            <a:spLocks noGrp="1"/>
          </p:cNvSpPr>
          <p:nvPr>
            <p:ph type="sldNum" sz="quarter" idx="10"/>
          </p:nvPr>
        </p:nvSpPr>
        <p:spPr bwMode="auto">
          <a:xfrm>
            <a:off x="8772525" y="6591300"/>
            <a:ext cx="371475" cy="266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2CB7C6B-E03B-4B4B-86B0-7F7804EAA55C}" type="slidenum">
              <a:rPr lang="pt-PT" altLang="pt-PT" sz="1200">
                <a:solidFill>
                  <a:srgbClr val="000000"/>
                </a:solidFill>
              </a:rPr>
              <a:pPr/>
              <a:t>2</a:t>
            </a:fld>
            <a:endParaRPr lang="pt-PT" altLang="pt-PT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467600" cy="8683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PT" altLang="pt-PT" b="1"/>
              <a:t>Objectivos</a:t>
            </a:r>
          </a:p>
        </p:txBody>
      </p:sp>
      <p:sp>
        <p:nvSpPr>
          <p:cNvPr id="17411" name="Marcador de Posição de Conteúdo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86675" cy="48736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altLang="pt-PT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Estudo da organização e estrutura aplicação </a:t>
            </a:r>
            <a:r>
              <a:rPr lang="pt-PT" altLang="pt-PT" sz="20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Slack</a:t>
            </a:r>
            <a:endParaRPr lang="pt-PT" altLang="pt-PT" sz="2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pt-PT" altLang="pt-PT" sz="2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PT" altLang="pt-PT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</a:t>
            </a:r>
            <a:r>
              <a:rPr lang="pt-PT" altLang="pt-PT" sz="20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técno</a:t>
            </a:r>
            <a:r>
              <a:rPr lang="pt-PT" altLang="pt-PT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-económica de diferentes tipologias para uma solução </a:t>
            </a:r>
            <a:r>
              <a:rPr lang="pt-PT" altLang="pt-PT" dirty="0"/>
              <a:t>FTTH</a:t>
            </a:r>
            <a:r>
              <a:rPr lang="pt-PT" altLang="pt-PT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utilizando GPON</a:t>
            </a:r>
          </a:p>
        </p:txBody>
      </p:sp>
      <p:sp>
        <p:nvSpPr>
          <p:cNvPr id="17412" name="Marcador de Posição do Número do Diapositivo 3"/>
          <p:cNvSpPr>
            <a:spLocks noGrp="1"/>
          </p:cNvSpPr>
          <p:nvPr>
            <p:ph type="sldNum" sz="quarter" idx="10"/>
          </p:nvPr>
        </p:nvSpPr>
        <p:spPr bwMode="auto">
          <a:xfrm>
            <a:off x="8772525" y="6591300"/>
            <a:ext cx="371475" cy="266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E7AB64A-6F96-4304-958E-4D6493EEA3B1}" type="slidenum">
              <a:rPr lang="pt-PT" altLang="pt-PT" sz="1200">
                <a:solidFill>
                  <a:srgbClr val="000000"/>
                </a:solidFill>
              </a:rPr>
              <a:pPr/>
              <a:t>3</a:t>
            </a:fld>
            <a:endParaRPr lang="pt-PT" altLang="pt-PT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467600" cy="8683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PT" altLang="pt-PT" b="1"/>
              <a:t>Conclusões</a:t>
            </a:r>
          </a:p>
        </p:txBody>
      </p:sp>
      <p:sp>
        <p:nvSpPr>
          <p:cNvPr id="18435" name="Marcador de Posição de Conteúdo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86675" cy="48736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altLang="pt-PT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Abordou-se...</a:t>
            </a:r>
          </a:p>
          <a:p>
            <a:pPr algn="just">
              <a:lnSpc>
                <a:spcPct val="150000"/>
              </a:lnSpc>
            </a:pPr>
            <a:r>
              <a:rPr lang="pt-PT" altLang="pt-PT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Fez-se…</a:t>
            </a:r>
          </a:p>
          <a:p>
            <a:pPr algn="just">
              <a:lnSpc>
                <a:spcPct val="150000"/>
              </a:lnSpc>
            </a:pPr>
            <a:r>
              <a:rPr lang="pt-PT" altLang="pt-PT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Conclui-se…</a:t>
            </a:r>
          </a:p>
        </p:txBody>
      </p:sp>
      <p:sp>
        <p:nvSpPr>
          <p:cNvPr id="18436" name="Marcador de Posição do Número do Diapositivo 3"/>
          <p:cNvSpPr>
            <a:spLocks noGrp="1"/>
          </p:cNvSpPr>
          <p:nvPr>
            <p:ph type="sldNum" sz="quarter" idx="10"/>
          </p:nvPr>
        </p:nvSpPr>
        <p:spPr bwMode="auto">
          <a:xfrm>
            <a:off x="8772525" y="6591300"/>
            <a:ext cx="371475" cy="266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220424-72D9-4501-9034-CF799CB4A01B}" type="slidenum">
              <a:rPr lang="pt-PT" altLang="pt-PT" sz="1200">
                <a:solidFill>
                  <a:srgbClr val="000000"/>
                </a:solidFill>
              </a:rPr>
              <a:pPr/>
              <a:t>4</a:t>
            </a:fld>
            <a:endParaRPr lang="pt-PT" altLang="pt-PT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467600" cy="8683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PT" altLang="pt-PT" b="1"/>
              <a:t>Agradecimentos</a:t>
            </a:r>
          </a:p>
        </p:txBody>
      </p:sp>
      <p:sp>
        <p:nvSpPr>
          <p:cNvPr id="19459" name="Marcador de Posição de Conteúdo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86675" cy="48736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altLang="pt-PT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fulano porque...</a:t>
            </a:r>
          </a:p>
          <a:p>
            <a:pPr algn="just">
              <a:lnSpc>
                <a:spcPct val="150000"/>
              </a:lnSpc>
            </a:pPr>
            <a:r>
              <a:rPr lang="pt-PT" altLang="pt-PT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cicrano porque…</a:t>
            </a:r>
          </a:p>
          <a:p>
            <a:pPr algn="just">
              <a:lnSpc>
                <a:spcPct val="150000"/>
              </a:lnSpc>
            </a:pPr>
            <a:r>
              <a:rPr lang="pt-PT" altLang="pt-PT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 instituição X porque…</a:t>
            </a:r>
          </a:p>
        </p:txBody>
      </p:sp>
      <p:sp>
        <p:nvSpPr>
          <p:cNvPr id="19460" name="Marcador de Posição do Número do Diapositivo 3"/>
          <p:cNvSpPr>
            <a:spLocks noGrp="1"/>
          </p:cNvSpPr>
          <p:nvPr>
            <p:ph type="sldNum" sz="quarter" idx="10"/>
          </p:nvPr>
        </p:nvSpPr>
        <p:spPr bwMode="auto">
          <a:xfrm>
            <a:off x="8772525" y="6591300"/>
            <a:ext cx="371475" cy="266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E06BEAF-BC9D-47A9-BD49-242CC847308F}" type="slidenum">
              <a:rPr lang="pt-PT" altLang="pt-PT" sz="1200">
                <a:solidFill>
                  <a:srgbClr val="000000"/>
                </a:solidFill>
              </a:rPr>
              <a:pPr/>
              <a:t>5</a:t>
            </a:fld>
            <a:endParaRPr lang="pt-PT" altLang="pt-PT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lk_evora_1">
  <a:themeElements>
    <a:clrScheme name="">
      <a:dk1>
        <a:srgbClr val="3399FF"/>
      </a:dk1>
      <a:lt1>
        <a:srgbClr val="FFFFFF"/>
      </a:lt1>
      <a:dk2>
        <a:srgbClr val="000099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2A82DA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bilk_evora_1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3300">
                <a:gamma/>
                <a:shade val="69804"/>
                <a:invGamma/>
              </a:srgbClr>
            </a:gs>
            <a:gs pos="50000">
              <a:srgbClr val="FF3300"/>
            </a:gs>
            <a:gs pos="100000">
              <a:srgbClr val="FF3300">
                <a:gamma/>
                <a:shade val="69804"/>
                <a:invGamma/>
              </a:srgbClr>
            </a:gs>
          </a:gsLst>
          <a:lin ang="5400000" scaled="1"/>
        </a:gradFill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P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3300">
                <a:gamma/>
                <a:shade val="69804"/>
                <a:invGamma/>
              </a:srgbClr>
            </a:gs>
            <a:gs pos="50000">
              <a:srgbClr val="FF3300"/>
            </a:gs>
            <a:gs pos="100000">
              <a:srgbClr val="FF3300">
                <a:gamma/>
                <a:shade val="69804"/>
                <a:invGamma/>
              </a:srgbClr>
            </a:gs>
          </a:gsLst>
          <a:lin ang="5400000" scaled="1"/>
        </a:gradFill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P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ilk_evora_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ilk_evora_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ilk_evora_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ilk_evora_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ilk_evora_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ilk_evora_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ilk_evora_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C:\Os meus documentos\D.C.A\AULAS 1998_99\N.T.C\Telemática\Slides\slides volume 1.ppt</Template>
  <TotalTime>6128</TotalTime>
  <Words>384</Words>
  <Application>Microsoft Office PowerPoint</Application>
  <PresentationFormat>Apresentação no Ecrã (4:3)</PresentationFormat>
  <Paragraphs>45</Paragraphs>
  <Slides>5</Slides>
  <Notes>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10" baseType="lpstr">
      <vt:lpstr>Arial</vt:lpstr>
      <vt:lpstr>Monotype Sorts</vt:lpstr>
      <vt:lpstr>Times New Roman</vt:lpstr>
      <vt:lpstr>Verdana</vt:lpstr>
      <vt:lpstr>bilk_evora_1</vt:lpstr>
      <vt:lpstr>Analysis of na Internet Service:  Slack      89296: Tomás Batista 88887: Flávia Figueiredo        Work done under the framework of discipline APSEI of the course LEI Department of Electronics, Telecommunications and Informatics University of Aveiro    Supervision: Manuel de Oliveira Duarte   Date 21/04/2020  </vt:lpstr>
      <vt:lpstr>Estrutura da Apresentação</vt:lpstr>
      <vt:lpstr>Objectivos</vt:lpstr>
      <vt:lpstr>Conclusões</vt:lpstr>
      <vt:lpstr>Agradecimentos</vt:lpstr>
    </vt:vector>
  </TitlesOfParts>
  <Company>Universidade de Aveiro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Telemática nas Organizações e na Sociedade</dc:title>
  <dc:creator>A.Manuel de Oliveira Duarte</dc:creator>
  <cp:lastModifiedBy>Tomás Batista</cp:lastModifiedBy>
  <cp:revision>385</cp:revision>
  <cp:lastPrinted>2001-02-16T09:37:59Z</cp:lastPrinted>
  <dcterms:created xsi:type="dcterms:W3CDTF">2000-01-22T13:41:12Z</dcterms:created>
  <dcterms:modified xsi:type="dcterms:W3CDTF">2020-04-21T14:27:34Z</dcterms:modified>
</cp:coreProperties>
</file>